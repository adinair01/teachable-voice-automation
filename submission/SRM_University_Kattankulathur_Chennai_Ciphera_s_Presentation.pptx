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one-line pitch: teach once, replay by voice with new parameters, on any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 the first thing a user tries: opening an app. Teaching cannot capture this because launcher taps are ignored by the recorder.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honest: 3 flows, one phone.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400" b="1">
                <a:solidFill>
                  <a:srgbClr val="FFB02E"/>
                </a:solidFill>
              </a:defRPr>
            </a:pPr>
            <a:r>
              <a:t>Teachable Voice Automation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19456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F0F2F8"/>
                </a:solidFill>
              </a:defRPr>
            </a:pPr>
            <a:r>
              <a:t>Teach any Android app once by doing it. Replay it by voice with new values.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120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969EB0"/>
                </a:solidFill>
              </a:defRPr>
            </a:pPr>
            <a:r>
              <a:t>Samsung PRISM Gen AI Hackathon  |  Theme 3</a:t>
            </a:r>
          </a:p>
          <a:p>
            <a:pPr>
              <a:spcAft>
                <a:spcPts val="800"/>
              </a:spcAft>
              <a:defRPr sz="1800" b="0">
                <a:solidFill>
                  <a:srgbClr val="969EB0"/>
                </a:solidFill>
              </a:defRPr>
            </a:pPr>
            <a:r>
              <a:t>SRM University, Kattankulathur, Chennai  |  Team Ciphera's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400" b="1">
                <a:solidFill>
                  <a:srgbClr val="FFB02E"/>
                </a:solidFill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969EB0"/>
                </a:solidFill>
              </a:defRPr>
            </a:pPr>
            <a:r>
              <a:t>Voice assistants only work where developers built support.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3566160" cy="329184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FFB02E"/>
                </a:solidFill>
              </a:defRPr>
            </a:pPr>
            <a:r>
              <a:t>Per-app integration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23160"/>
            <a:ext cx="32004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F0F2F8"/>
                </a:solidFill>
              </a:defRPr>
            </a:pPr>
            <a:r>
              <a:t>Bixby capabilities and app actions need each app's developer to build and maintain them. Most apps never 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737360"/>
            <a:ext cx="3566160" cy="329184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187451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FFB02E"/>
                </a:solidFill>
              </a:defRPr>
            </a:pPr>
            <a:r>
              <a:t>Long tail unserved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423160"/>
            <a:ext cx="32004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F0F2F8"/>
                </a:solidFill>
              </a:defRPr>
            </a:pPr>
            <a:r>
              <a:t>Users still tap through the same 6 screens every day in apps that expose no voice API.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737360"/>
            <a:ext cx="3566160" cy="329184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87451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FFB02E"/>
                </a:solidFill>
              </a:defRPr>
            </a:pPr>
            <a:r>
              <a:t>Rigid commands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423160"/>
            <a:ext cx="32004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F0F2F8"/>
                </a:solidFill>
              </a:defRPr>
            </a:pPr>
            <a:r>
              <a:t>Macro tools replay fixed taps. Change "burger" to "pizza" and they break.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400" b="1">
                <a:solidFill>
                  <a:srgbClr val="FFB02E"/>
                </a:solidFill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969EB0"/>
                </a:solidFill>
              </a:defRPr>
            </a:pPr>
            <a:r>
              <a:t>Learn by demonstration, generalise with an LLM, replay against the live UI.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3566160" cy="265176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FFB02E"/>
                </a:solidFill>
              </a:defRPr>
            </a:pPr>
            <a:r>
              <a:t>1  Teach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2316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F0F2F8"/>
                </a:solidFill>
              </a:defRPr>
            </a:pPr>
            <a:r>
              <a:t>Say a command the assistant does not know. Do the task once by hand.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737360"/>
            <a:ext cx="3566160" cy="265176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87451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FFB02E"/>
                </a:solidFill>
              </a:defRPr>
            </a:pPr>
            <a:r>
              <a:t>2  Generalise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242316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F0F2F8"/>
                </a:solidFill>
              </a:defRPr>
            </a:pPr>
            <a:r>
              <a:t>Groq turns the demo into a flow: steps, selectors, and {{slots}} for the parts that change.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737360"/>
            <a:ext cx="3566160" cy="265176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87451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FFB02E"/>
                </a:solidFill>
              </a:defRPr>
            </a:pPr>
            <a:r>
              <a:t>3  Replay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42316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F0F2F8"/>
                </a:solidFill>
              </a:defRPr>
            </a:pPr>
            <a:r>
              <a:t>Say it again with new values. The Replayer matches elements on the live screen and acts.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846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969EB0"/>
                </a:solidFill>
              </a:defRPr>
            </a:pPr>
            <a:r>
              <a:t>Example: taught "calculate 5 plus 3"  -&gt;  replayed "what is 9 plus 4" = 13, "compute 6 plus 1" =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400" b="1">
                <a:solidFill>
                  <a:srgbClr val="FFB02E"/>
                </a:solidFill>
              </a:defRPr>
            </a:pPr>
            <a:r>
              <a:t>Open any app by 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969EB0"/>
                </a:solidFill>
              </a:defRPr>
            </a:pPr>
            <a:r>
              <a:t>Built in. No demonstration needed.</a:t>
            </a:r>
          </a:p>
        </p:txBody>
      </p:sp>
      <p:pic>
        <p:nvPicPr>
          <p:cNvPr id="4" name="Picture 3" descr="ph_o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2169544" cy="4846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3840480" y="1554480"/>
            <a:ext cx="7772400" cy="219456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023360" y="1691639"/>
            <a:ext cx="7406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FFB02E"/>
                </a:solidFill>
              </a:defRPr>
            </a:pPr>
            <a:r>
              <a:t>How it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2240280"/>
            <a:ext cx="7406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F0F2F8"/>
                </a:solidFill>
              </a:defRPr>
            </a:pPr>
            <a:r>
              <a:t>The phone sends the backend its launchable apps (label + package). "Open Calculator" is matched on the exact app name and the app is launched.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0" y="3931920"/>
            <a:ext cx="7772400" cy="219456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0" y="4069080"/>
            <a:ext cx="7406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FFB02E"/>
                </a:solidFill>
              </a:defRPr>
            </a:pPr>
            <a:r>
              <a:t>Safe by construction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4617720"/>
            <a:ext cx="7406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F0F2F8"/>
                </a:solidFill>
              </a:defRPr>
            </a:pPr>
            <a:r>
              <a:t>Exact-name match only, so "open Bluetooth settings" still replays your taught flow instead of hitting the Settings app. Unknown names fall back to teach mode.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0881360" cy="7315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3400" b="1">
                <a:solidFill>
                  <a:srgbClr val="FFB02E"/>
                </a:solidFill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0881360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969EB0"/>
                </a:solidFill>
              </a:rPr>
              <a:t>One WebSocket link: the phone acts through Accessibility, the backend understands with STT and an LLM.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17904"/>
            <a:ext cx="4846320" cy="3163824"/>
          </a:xfrm>
          <a:prstGeom prst="roundRect">
            <a:avLst>
              <a:gd name="adj" fmla="val 4500"/>
            </a:avLst>
          </a:prstGeom>
          <a:solidFill>
            <a:srgbClr val="1B1F2B"/>
          </a:solidFill>
          <a:ln w="12700">
            <a:solidFill>
              <a:srgbClr val="3C47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39712" y="1517904"/>
            <a:ext cx="4846320" cy="3163824"/>
          </a:xfrm>
          <a:prstGeom prst="roundRect">
            <a:avLst>
              <a:gd name="adj" fmla="val 4500"/>
            </a:avLst>
          </a:prstGeom>
          <a:solidFill>
            <a:srgbClr val="1B1F2B"/>
          </a:solidFill>
          <a:ln w="12700">
            <a:solidFill>
              <a:srgbClr val="3C47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627631"/>
            <a:ext cx="4480559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0F2F8"/>
                </a:solidFill>
              </a:rPr>
              <a:t>ANDROID DEVICE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FFB02E"/>
                </a:solidFill>
              </a:rPr>
              <a:t>Kotlin · acts — no target-app cooperation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0" y="1627631"/>
            <a:ext cx="4480559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0F2F8"/>
                </a:solidFill>
              </a:rPr>
              <a:t>BACKEND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FFB02E"/>
                </a:solidFill>
              </a:rPr>
              <a:t>Node + MongoDB · Docker — understands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8" y="2231136"/>
            <a:ext cx="4443983" cy="502920"/>
          </a:xfrm>
          <a:prstGeom prst="roundRect">
            <a:avLst>
              <a:gd name="adj" fmla="val 9000"/>
            </a:avLst>
          </a:prstGeom>
          <a:solidFill>
            <a:srgbClr val="2B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F0F2F8"/>
                </a:solidFill>
              </a:rPr>
              <a:t>Voice Overlay + Foreground Service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69EB0"/>
                </a:solidFill>
              </a:rPr>
              <a:t>push-to-talk mic  ·  plays spoken replies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889504"/>
            <a:ext cx="4443983" cy="932688"/>
          </a:xfrm>
          <a:prstGeom prst="roundRect">
            <a:avLst>
              <a:gd name="adj" fmla="val 9000"/>
            </a:avLst>
          </a:prstGeom>
          <a:solidFill>
            <a:srgbClr val="2B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F0F2F8"/>
                </a:solidFill>
              </a:rPr>
              <a:t>AccessibilityService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69" b="0">
                <a:solidFill>
                  <a:srgbClr val="969EB0"/>
                </a:solidFill>
              </a:rPr>
              <a:t>reads UI tree (id · text · desc · bounds)  ·  taps / types / scrolls / back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" y="3273552"/>
            <a:ext cx="2084831" cy="457200"/>
          </a:xfrm>
          <a:prstGeom prst="roundRect">
            <a:avLst>
              <a:gd name="adj" fmla="val 9000"/>
            </a:avLst>
          </a:prstGeom>
          <a:solidFill>
            <a:srgbClr val="22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FFB02E"/>
                </a:solidFill>
              </a:rPr>
              <a:t>Flow Recorder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69EB0"/>
                </a:solidFill>
              </a:rPr>
              <a:t>teach: events → selectors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71800" y="3273552"/>
            <a:ext cx="2084831" cy="457200"/>
          </a:xfrm>
          <a:prstGeom prst="roundRect">
            <a:avLst>
              <a:gd name="adj" fmla="val 9000"/>
            </a:avLst>
          </a:prstGeom>
          <a:solidFill>
            <a:srgbClr val="22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4EA1FF"/>
                </a:solidFill>
              </a:rPr>
              <a:t>Replayer + ScreenGuard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69EB0"/>
                </a:solidFill>
              </a:rPr>
              <a:t>replay: match · guard pay/OTP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4088" y="4078224"/>
            <a:ext cx="4443983" cy="457200"/>
          </a:xfrm>
          <a:prstGeom prst="roundRect">
            <a:avLst>
              <a:gd name="adj" fmla="val 9000"/>
            </a:avLst>
          </a:prstGeom>
          <a:solidFill>
            <a:srgbClr val="222836"/>
          </a:solidFill>
          <a:ln w="9525">
            <a:solidFill>
              <a:srgbClr val="3C47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1">
                <a:solidFill>
                  <a:srgbClr val="F0F2F8"/>
                </a:solidFill>
              </a:rPr>
              <a:t>Target app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69EB0"/>
                </a:solidFill>
              </a:rPr>
              <a:t>Zomato · Settings · Calculator — unmodified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0880" y="2231136"/>
            <a:ext cx="4443983" cy="502920"/>
          </a:xfrm>
          <a:prstGeom prst="roundRect">
            <a:avLst>
              <a:gd name="adj" fmla="val 9000"/>
            </a:avLst>
          </a:prstGeom>
          <a:solidFill>
            <a:srgbClr val="2B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F0F2F8"/>
                </a:solidFill>
              </a:rPr>
              <a:t>WebSocket Gateway + Session orchestrator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69EB0"/>
                </a:solidFill>
              </a:rPr>
              <a:t>routes audio, drives teach / replay loop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0880" y="2816352"/>
            <a:ext cx="4443983" cy="457200"/>
          </a:xfrm>
          <a:prstGeom prst="roundRect">
            <a:avLst>
              <a:gd name="adj" fmla="val 9000"/>
            </a:avLst>
          </a:prstGeom>
          <a:solidFill>
            <a:srgbClr val="2B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1">
                <a:solidFill>
                  <a:srgbClr val="F0F2F8"/>
                </a:solidFill>
              </a:rPr>
              <a:t>Deepgram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969EB0"/>
                </a:solidFill>
              </a:rPr>
              <a:t>Nova-3 STT (audio → text)  ·  Aura TTS (text → audio)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40880" y="3346704"/>
            <a:ext cx="4443983" cy="731520"/>
          </a:xfrm>
          <a:prstGeom prst="roundRect">
            <a:avLst>
              <a:gd name="adj" fmla="val 9000"/>
            </a:avLst>
          </a:prstGeom>
          <a:solidFill>
            <a:srgbClr val="2B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30" b="1">
                <a:solidFill>
                  <a:srgbClr val="F0F2F8"/>
                </a:solidFill>
              </a:rPr>
              <a:t>Groq LLM  —  JSON mode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60" b="0">
                <a:solidFill>
                  <a:srgbClr val="969EB0"/>
                </a:solidFill>
              </a:rPr>
              <a:t>intent + slots   ·   generalise demo → flow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60" b="0">
                <a:solidFill>
                  <a:srgbClr val="969EB0"/>
                </a:solidFill>
              </a:rPr>
              <a:t>paraphrase match   ·   pick-element fallback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40880" y="4151376"/>
            <a:ext cx="4443983" cy="402336"/>
          </a:xfrm>
          <a:prstGeom prst="roundRect">
            <a:avLst>
              <a:gd name="adj" fmla="val 9000"/>
            </a:avLst>
          </a:prstGeom>
          <a:solidFill>
            <a:srgbClr val="2B3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0F2F8"/>
                </a:solidFill>
              </a:rPr>
              <a:t>MongoDB: Flows + RunLogs   ·   REST /dashboard metrics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926079" y="2734056"/>
            <a:ext cx="0" cy="155448"/>
          </a:xfrm>
          <a:prstGeom prst="bentConnector3">
            <a:avLst/>
          </a:prstGeom>
          <a:ln w="17780">
            <a:solidFill>
              <a:srgbClr val="3C47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926079" y="3822191"/>
            <a:ext cx="0" cy="256033"/>
          </a:xfrm>
          <a:prstGeom prst="bentConnector3">
            <a:avLst/>
          </a:prstGeom>
          <a:ln w="20320">
            <a:solidFill>
              <a:srgbClr val="3C4763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262872" y="2734056"/>
            <a:ext cx="0" cy="82296"/>
          </a:xfrm>
          <a:prstGeom prst="bentConnector3">
            <a:avLst/>
          </a:prstGeom>
          <a:ln w="17780">
            <a:solidFill>
              <a:srgbClr val="3C47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262872" y="3273552"/>
            <a:ext cx="0" cy="73152"/>
          </a:xfrm>
          <a:prstGeom prst="bentConnector3">
            <a:avLst/>
          </a:prstGeom>
          <a:ln w="17780">
            <a:solidFill>
              <a:srgbClr val="3C47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262872" y="4078224"/>
            <a:ext cx="0" cy="73152"/>
          </a:xfrm>
          <a:prstGeom prst="bentConnector3">
            <a:avLst/>
          </a:prstGeom>
          <a:ln w="17780">
            <a:solidFill>
              <a:srgbClr val="3C47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504688" y="2231136"/>
            <a:ext cx="1243584" cy="502920"/>
          </a:xfrm>
          <a:prstGeom prst="roundRect">
            <a:avLst>
              <a:gd name="adj" fmla="val 16000"/>
            </a:avLst>
          </a:prstGeom>
          <a:solidFill>
            <a:srgbClr val="242B3D"/>
          </a:solidFill>
          <a:ln w="15875">
            <a:solidFill>
              <a:srgbClr val="FFB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FFB02E"/>
                </a:solidFill>
              </a:rPr>
              <a:t>WebSocket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49824" y="2761488"/>
            <a:ext cx="1353312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F0F2F8"/>
                </a:solidFill>
              </a:rPr>
              <a:t>audio ↑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F0F2F8"/>
                </a:solidFill>
              </a:rPr>
              <a:t>TTS + flow ↓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148071" y="2478024"/>
            <a:ext cx="356617" cy="0"/>
          </a:xfrm>
          <a:prstGeom prst="bentConnector3">
            <a:avLst/>
          </a:prstGeom>
          <a:ln w="25400">
            <a:solidFill>
              <a:srgbClr val="FFB02E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748272" y="2478024"/>
            <a:ext cx="292608" cy="0"/>
          </a:xfrm>
          <a:prstGeom prst="bentConnector3">
            <a:avLst/>
          </a:prstGeom>
          <a:ln w="25400">
            <a:solidFill>
              <a:srgbClr val="FFB02E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02920" y="4882896"/>
            <a:ext cx="5486400" cy="2743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F0F2F8"/>
                </a:solidFill>
              </a:rPr>
              <a:t>How a command flows</a:t>
            </a:r>
          </a:p>
        </p:txBody>
      </p:sp>
      <p:sp>
        <p:nvSpPr>
          <p:cNvPr id="27" name="Oval 26"/>
          <p:cNvSpPr/>
          <p:nvPr/>
        </p:nvSpPr>
        <p:spPr>
          <a:xfrm>
            <a:off x="3703320" y="4901183"/>
            <a:ext cx="146304" cy="146304"/>
          </a:xfrm>
          <a:prstGeom prst="ellipse">
            <a:avLst/>
          </a:prstGeom>
          <a:solidFill>
            <a:srgbClr val="FFB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95344" y="4864608"/>
            <a:ext cx="914400" cy="2743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FFB02E"/>
                </a:solidFill>
              </a:rPr>
              <a:t>Teach</a:t>
            </a:r>
          </a:p>
        </p:txBody>
      </p:sp>
      <p:sp>
        <p:nvSpPr>
          <p:cNvPr id="29" name="Oval 28"/>
          <p:cNvSpPr/>
          <p:nvPr/>
        </p:nvSpPr>
        <p:spPr>
          <a:xfrm>
            <a:off x="4590288" y="4901183"/>
            <a:ext cx="146304" cy="146304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82312" y="4864608"/>
            <a:ext cx="1097280" cy="2743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4EA1FF"/>
                </a:solidFill>
              </a:rPr>
              <a:t>Replay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266944"/>
            <a:ext cx="932688" cy="512064"/>
          </a:xfrm>
          <a:prstGeom prst="roundRect">
            <a:avLst>
              <a:gd name="adj" fmla="val 12000"/>
            </a:avLst>
          </a:prstGeom>
          <a:solidFill>
            <a:srgbClr val="222836"/>
          </a:solidFill>
          <a:ln w="13970">
            <a:solidFill>
              <a:srgbClr val="FFB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FFB02E"/>
                </a:solidFill>
              </a:rPr>
              <a:t>TEACH</a:t>
            </a:r>
          </a:p>
        </p:txBody>
      </p:sp>
      <p:sp>
        <p:nvSpPr>
          <p:cNvPr id="32" name="Chevron 31"/>
          <p:cNvSpPr/>
          <p:nvPr/>
        </p:nvSpPr>
        <p:spPr>
          <a:xfrm>
            <a:off x="1627632" y="5266944"/>
            <a:ext cx="2679192" cy="512064"/>
          </a:xfrm>
          <a:prstGeom prst="chevron">
            <a:avLst>
              <a:gd name="adj" fmla="val 28000"/>
            </a:avLst>
          </a:prstGeom>
          <a:solidFill>
            <a:srgbClr val="222836"/>
          </a:solidFill>
          <a:ln w="12700">
            <a:solidFill>
              <a:srgbClr val="FFB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F0F2F8"/>
                </a:solidFill>
              </a:rPr>
              <a:t>Speak an unknown command</a:t>
            </a:r>
          </a:p>
        </p:txBody>
      </p:sp>
      <p:sp>
        <p:nvSpPr>
          <p:cNvPr id="33" name="Chevron 32"/>
          <p:cNvSpPr/>
          <p:nvPr/>
        </p:nvSpPr>
        <p:spPr>
          <a:xfrm>
            <a:off x="4142232" y="5266944"/>
            <a:ext cx="2679192" cy="512064"/>
          </a:xfrm>
          <a:prstGeom prst="chevron">
            <a:avLst>
              <a:gd name="adj" fmla="val 28000"/>
            </a:avLst>
          </a:prstGeom>
          <a:solidFill>
            <a:srgbClr val="222836"/>
          </a:solidFill>
          <a:ln w="12700">
            <a:solidFill>
              <a:srgbClr val="FFB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F0F2F8"/>
                </a:solidFill>
              </a:rPr>
              <a:t>Do the task once by hand</a:t>
            </a:r>
          </a:p>
        </p:txBody>
      </p:sp>
      <p:sp>
        <p:nvSpPr>
          <p:cNvPr id="34" name="Chevron 33"/>
          <p:cNvSpPr/>
          <p:nvPr/>
        </p:nvSpPr>
        <p:spPr>
          <a:xfrm>
            <a:off x="6656832" y="5266944"/>
            <a:ext cx="2679192" cy="512064"/>
          </a:xfrm>
          <a:prstGeom prst="chevron">
            <a:avLst>
              <a:gd name="adj" fmla="val 28000"/>
            </a:avLst>
          </a:prstGeom>
          <a:solidFill>
            <a:srgbClr val="222836"/>
          </a:solidFill>
          <a:ln w="12700">
            <a:solidFill>
              <a:srgbClr val="FFB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F0F2F8"/>
                </a:solidFill>
              </a:rPr>
              <a:t>Recorder → steps + selectors</a:t>
            </a:r>
          </a:p>
        </p:txBody>
      </p:sp>
      <p:sp>
        <p:nvSpPr>
          <p:cNvPr id="35" name="Chevron 34"/>
          <p:cNvSpPr/>
          <p:nvPr/>
        </p:nvSpPr>
        <p:spPr>
          <a:xfrm>
            <a:off x="9171432" y="5266944"/>
            <a:ext cx="2679192" cy="512064"/>
          </a:xfrm>
          <a:prstGeom prst="chevron">
            <a:avLst>
              <a:gd name="adj" fmla="val 28000"/>
            </a:avLst>
          </a:prstGeom>
          <a:solidFill>
            <a:srgbClr val="222836"/>
          </a:solidFill>
          <a:ln w="12700">
            <a:solidFill>
              <a:srgbClr val="FFB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F0F2F8"/>
                </a:solidFill>
              </a:rPr>
              <a:t>Groq generalises → Flow with {{slots}}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888736"/>
            <a:ext cx="932688" cy="512064"/>
          </a:xfrm>
          <a:prstGeom prst="roundRect">
            <a:avLst>
              <a:gd name="adj" fmla="val 12000"/>
            </a:avLst>
          </a:prstGeom>
          <a:solidFill>
            <a:srgbClr val="222836"/>
          </a:solidFill>
          <a:ln w="13970">
            <a:solidFill>
              <a:srgbClr val="4EA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4EA1FF"/>
                </a:solidFill>
              </a:rPr>
              <a:t>REPLAY</a:t>
            </a:r>
          </a:p>
        </p:txBody>
      </p:sp>
      <p:sp>
        <p:nvSpPr>
          <p:cNvPr id="37" name="Chevron 36"/>
          <p:cNvSpPr/>
          <p:nvPr/>
        </p:nvSpPr>
        <p:spPr>
          <a:xfrm>
            <a:off x="1627632" y="5888736"/>
            <a:ext cx="2679192" cy="512064"/>
          </a:xfrm>
          <a:prstGeom prst="chevron">
            <a:avLst>
              <a:gd name="adj" fmla="val 28000"/>
            </a:avLst>
          </a:prstGeom>
          <a:solidFill>
            <a:srgbClr val="222836"/>
          </a:solidFill>
          <a:ln w="12700">
            <a:solidFill>
              <a:srgbClr val="4EA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F0F2F8"/>
                </a:solidFill>
              </a:rPr>
              <a:t>Speak it with new values</a:t>
            </a:r>
          </a:p>
        </p:txBody>
      </p:sp>
      <p:sp>
        <p:nvSpPr>
          <p:cNvPr id="38" name="Chevron 37"/>
          <p:cNvSpPr/>
          <p:nvPr/>
        </p:nvSpPr>
        <p:spPr>
          <a:xfrm>
            <a:off x="4142232" y="5888736"/>
            <a:ext cx="2679192" cy="512064"/>
          </a:xfrm>
          <a:prstGeom prst="chevron">
            <a:avLst>
              <a:gd name="adj" fmla="val 28000"/>
            </a:avLst>
          </a:prstGeom>
          <a:solidFill>
            <a:srgbClr val="222836"/>
          </a:solidFill>
          <a:ln w="12700">
            <a:solidFill>
              <a:srgbClr val="4EA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F0F2F8"/>
                </a:solidFill>
              </a:rPr>
              <a:t>STT · paraphrase match · slots</a:t>
            </a:r>
          </a:p>
        </p:txBody>
      </p:sp>
      <p:sp>
        <p:nvSpPr>
          <p:cNvPr id="39" name="Chevron 38"/>
          <p:cNvSpPr/>
          <p:nvPr/>
        </p:nvSpPr>
        <p:spPr>
          <a:xfrm>
            <a:off x="6656832" y="5888736"/>
            <a:ext cx="2679192" cy="512064"/>
          </a:xfrm>
          <a:prstGeom prst="chevron">
            <a:avLst>
              <a:gd name="adj" fmla="val 28000"/>
            </a:avLst>
          </a:prstGeom>
          <a:solidFill>
            <a:srgbClr val="222836"/>
          </a:solidFill>
          <a:ln w="12700">
            <a:solidFill>
              <a:srgbClr val="4EA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F0F2F8"/>
                </a:solidFill>
              </a:rPr>
              <a:t>Replayer acts on live UI tree</a:t>
            </a:r>
          </a:p>
        </p:txBody>
      </p:sp>
      <p:sp>
        <p:nvSpPr>
          <p:cNvPr id="40" name="Chevron 39"/>
          <p:cNvSpPr/>
          <p:nvPr/>
        </p:nvSpPr>
        <p:spPr>
          <a:xfrm>
            <a:off x="9171432" y="5888736"/>
            <a:ext cx="2679192" cy="512064"/>
          </a:xfrm>
          <a:prstGeom prst="chevron">
            <a:avLst>
              <a:gd name="adj" fmla="val 28000"/>
            </a:avLst>
          </a:prstGeom>
          <a:solidFill>
            <a:srgbClr val="222836"/>
          </a:solidFill>
          <a:ln w="12700">
            <a:solidFill>
              <a:srgbClr val="4EA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F0F2F8"/>
                </a:solidFill>
              </a:rPr>
              <a:t>ScreenGuard stops at pay/OTP → spoken result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400" b="1">
                <a:solidFill>
                  <a:srgbClr val="FFB02E"/>
                </a:solidFill>
              </a:defRPr>
            </a:pPr>
            <a:r>
              <a:t>Why Accessibility beats app-specific integrations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5394960" cy="438912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FFB02E"/>
                </a:solidFill>
              </a:defRPr>
            </a:pPr>
            <a:r>
              <a:t>Per-app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50292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F0F2F8"/>
                </a:solidFill>
              </a:defRPr>
            </a:pPr>
            <a:r>
              <a:t>One integration per app, built by that app's developer</a:t>
            </a:r>
            <a:br/>
            <a:r>
              <a:t>Breaks when the app ships an update they did not plan for</a:t>
            </a:r>
            <a:br/>
            <a:r>
              <a:t>Covers only partners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394960" cy="438912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002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FFB02E"/>
                </a:solidFill>
              </a:defRPr>
            </a:pPr>
            <a:r>
              <a:t>Accessibility + demonstration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148840"/>
            <a:ext cx="50292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F0F2F8"/>
                </a:solidFill>
              </a:defRPr>
            </a:pPr>
            <a:r>
              <a:t>Works on apps that know nothing about us</a:t>
            </a:r>
            <a:br/>
            <a:r>
              <a:t>The user is the integration: one demo, minutes not months</a:t>
            </a:r>
            <a:br/>
            <a:r>
              <a:t>Same UI tree screen readers already use</a:t>
            </a:r>
            <a:br/>
            <a:r>
              <a:t>Covers the long tail, including Chrome, Settings, Clock, Calculator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400" b="1">
                <a:solidFill>
                  <a:srgbClr val="FFB02E"/>
                </a:solidFill>
              </a:defRPr>
            </a:pPr>
            <a:r>
              <a:t>Demo on a real phone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969EB0"/>
                </a:solidFill>
              </a:defRPr>
            </a:pPr>
            <a:r>
              <a:t>Realme device, real Accessibility events, real STT and TTS.</a:t>
            </a:r>
          </a:p>
        </p:txBody>
      </p:sp>
      <p:pic>
        <p:nvPicPr>
          <p:cNvPr id="4" name="Picture 3" descr="ph_tea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554480"/>
            <a:ext cx="1923936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9436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969EB0"/>
                </a:solidFill>
              </a:defRPr>
            </a:pPr>
            <a:r>
              <a:t>Teach mode: user demonstrates</a:t>
            </a:r>
          </a:p>
        </p:txBody>
      </p:sp>
      <p:pic>
        <p:nvPicPr>
          <p:cNvPr id="6" name="Picture 5" descr="ph_rep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554480"/>
            <a:ext cx="1923936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0" y="59436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969EB0"/>
                </a:solidFill>
              </a:defRPr>
            </a:pPr>
            <a:r>
              <a:t>New slot, same flow: 9 + 4 = 13</a:t>
            </a:r>
          </a:p>
        </p:txBody>
      </p:sp>
      <p:pic>
        <p:nvPicPr>
          <p:cNvPr id="8" name="Picture 7" descr="ph_confir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1554480"/>
            <a:ext cx="1923936" cy="4297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321040" y="59436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969EB0"/>
                </a:solidFill>
              </a:defRPr>
            </a:pPr>
            <a:r>
              <a:t>Confirm before sensitive step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400" b="1">
                <a:solidFill>
                  <a:srgbClr val="FFB02E"/>
                </a:solidFill>
              </a:defRPr>
            </a:pPr>
            <a:r>
              <a:t>Measured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969EB0"/>
                </a:solidFill>
              </a:defRPr>
            </a:pPr>
            <a:r>
              <a:t>Real phone. Flows and RunLogs reset first. Computed by the dashboard from RunLog data.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3566160" cy="210312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969EB0"/>
                </a:solidFill>
              </a:defRPr>
            </a:pPr>
            <a:r>
              <a:t>Learn success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5400" b="1">
                <a:solidFill>
                  <a:srgbClr val="FFB02E"/>
                </a:solidFill>
              </a:defRPr>
            </a:pPr>
            <a:r>
              <a:t>100%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969EB0"/>
                </a:solidFill>
              </a:defRPr>
            </a:pPr>
            <a:r>
              <a:t>3 / 3 demonstrations turned into flows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554480"/>
            <a:ext cx="3566160" cy="210312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6459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969EB0"/>
                </a:solidFill>
              </a:defRPr>
            </a:pPr>
            <a:r>
              <a:t>Replay success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201168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5400" b="1">
                <a:solidFill>
                  <a:srgbClr val="FFB02E"/>
                </a:solidFill>
              </a:defRPr>
            </a:pPr>
            <a: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9260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969EB0"/>
                </a:solidFill>
              </a:defRPr>
            </a:pPr>
            <a:r>
              <a:t>9 / 9 replays with new slot values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554480"/>
            <a:ext cx="3566160" cy="210312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6459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969EB0"/>
                </a:solidFill>
              </a:defRPr>
            </a:pPr>
            <a:r>
              <a:t>Paraphrase match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01168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5400" b="1">
                <a:solidFill>
                  <a:srgbClr val="FFB02E"/>
                </a:solidFill>
              </a:defRPr>
            </a:pPr>
            <a: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9260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969EB0"/>
                </a:solidFill>
              </a:defRPr>
            </a:pPr>
            <a:r>
              <a:t>9 / 9 live; 13 / 13 offline eval incl. 2 negative controls</a:t>
            </a:r>
          </a:p>
        </p:txBody>
      </p:sp>
      <p:pic>
        <p:nvPicPr>
          <p:cNvPr id="16" name="Picture 15" descr="dash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0"/>
            <a:ext cx="5434149" cy="23774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852160" y="4023360"/>
            <a:ext cx="58521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F0F2F8"/>
                </a:solidFill>
              </a:defRPr>
            </a:pPr>
            <a:r>
              <a:t>3 flows: Settings, Calculator, Clock.</a:t>
            </a:r>
          </a:p>
          <a:p>
            <a:pPr>
              <a:spcAft>
                <a:spcPts val="800"/>
              </a:spcAft>
              <a:defRPr sz="1800" b="0">
                <a:solidFill>
                  <a:srgbClr val="F0F2F8"/>
                </a:solidFill>
              </a:defRPr>
            </a:pPr>
            <a:r>
              <a:t>Small sample on one phone: read this as a working proof, not a benchmark.</a:t>
            </a:r>
          </a:p>
          <a:p>
            <a:pPr>
              <a:spcAft>
                <a:spcPts val="800"/>
              </a:spcAft>
              <a:defRPr sz="1800" b="0">
                <a:solidFill>
                  <a:srgbClr val="F0F2F8"/>
                </a:solidFill>
              </a:defRPr>
            </a:pPr>
            <a:r>
              <a:t>Earlier attempts that failed while building were fixed and are covered by the offline eval.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400" b="1">
                <a:solidFill>
                  <a:srgbClr val="FFB02E"/>
                </a:solidFill>
              </a:defRPr>
            </a:pPr>
            <a:r>
              <a:t>Safety by design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5394960" cy="438912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FFB02E"/>
                </a:solidFill>
              </a:defRPr>
            </a:pPr>
            <a:r>
              <a:t>Never auto-complete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50292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F0F2F8"/>
                </a:solidFill>
              </a:defRPr>
            </a:pPr>
            <a:r>
              <a:t>Steps that look like pay, send, order, delete are flagged.</a:t>
            </a:r>
            <a:br/>
            <a:r>
              <a:t>Replay pauses, speaks "Confirm?", waits for Yes or No.</a:t>
            </a:r>
            <a:br/>
            <a:r>
              <a:t>Unclear answer or no answer = No.</a:t>
            </a:r>
            <a:br/>
            <a:r>
              <a:t>A declined run is logged as declined, not a failure.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394960" cy="438912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002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FFB02E"/>
                </a:solidFill>
              </a:defRPr>
            </a:pPr>
            <a:r>
              <a:t>Privacy and secrets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148840"/>
            <a:ext cx="50292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F0F2F8"/>
                </a:solidFill>
              </a:defRPr>
            </a:pPr>
            <a:r>
              <a:t>Password / PIN / OTP fields are redacted at record time and never stored or sent to the LLM.</a:t>
            </a:r>
            <a:br/>
            <a:r>
              <a:t>Keys only via environment; .env gitignored.</a:t>
            </a:r>
            <a:br/>
            <a:r>
              <a:t>Input validated on every endpoint and WebSocket message.</a:t>
            </a:r>
            <a:br/>
            <a:r>
              <a:t>Non-root Docker image.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400" b="1">
                <a:solidFill>
                  <a:srgbClr val="FFB02E"/>
                </a:solidFill>
              </a:defRPr>
            </a:pPr>
            <a:r>
              <a:t>Limitations, stated plainly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F0F2F8"/>
                </a:solidFill>
              </a:defRPr>
            </a:pPr>
            <a:r>
              <a:t>Chrome address-bar suggestion taps emit no accessibility click event, so those flows are hand-authored, not taught.</a:t>
            </a:r>
          </a:p>
          <a:p>
            <a:pPr>
              <a:spcAft>
                <a:spcPts val="800"/>
              </a:spcAft>
              <a:defRPr sz="2200" b="0">
                <a:solidFill>
                  <a:srgbClr val="F0F2F8"/>
                </a:solidFill>
              </a:defRPr>
            </a:pPr>
            <a:r>
              <a:t>Long-press and drag gestures are not captured yet.</a:t>
            </a:r>
          </a:p>
          <a:p>
            <a:pPr>
              <a:spcAft>
                <a:spcPts val="800"/>
              </a:spcAft>
              <a:defRPr sz="2200" b="0">
                <a:solidFill>
                  <a:srgbClr val="F0F2F8"/>
                </a:solidFill>
              </a:defRPr>
            </a:pPr>
            <a:r>
              <a:t>Operators are not slots: "plus" is baked into the taught calculator flow; "9 minus 4" needs its own demo.</a:t>
            </a:r>
          </a:p>
          <a:p>
            <a:pPr>
              <a:spcAft>
                <a:spcPts val="800"/>
              </a:spcAft>
              <a:defRPr sz="2200" b="0">
                <a:solidFill>
                  <a:srgbClr val="F0F2F8"/>
                </a:solidFill>
              </a:defRPr>
            </a:pPr>
            <a:r>
              <a:t>Matching depends on an LLM (openai/gpt-oss-20b on Groq; the Llama model was not available on our key).</a:t>
            </a:r>
          </a:p>
          <a:p>
            <a:pPr>
              <a:spcAft>
                <a:spcPts val="800"/>
              </a:spcAft>
              <a:defRPr sz="2200" b="0">
                <a:solidFill>
                  <a:srgbClr val="F0F2F8"/>
                </a:solidFill>
              </a:defRPr>
            </a:pPr>
            <a:r>
              <a:t>Cleartext LAN/localhost transport for development; production needs TLS.</a:t>
            </a:r>
          </a:p>
          <a:p>
            <a:pPr>
              <a:spcAft>
                <a:spcPts val="800"/>
              </a:spcAft>
              <a:defRPr sz="2200" b="0">
                <a:solidFill>
                  <a:srgbClr val="F0F2F8"/>
                </a:solidFill>
              </a:defRPr>
            </a:pPr>
            <a:r>
              <a:t>Accessibility must be enabled by the user in Settings; Android does not allow it programmatically.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400" b="1">
                <a:solidFill>
                  <a:srgbClr val="FFB02E"/>
                </a:solidFill>
              </a:defRPr>
            </a:pPr>
            <a:r>
              <a:t>Production: an OEM system service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969EB0"/>
                </a:solidFill>
              </a:defRPr>
            </a:pPr>
            <a:r>
              <a:t>The architecture is what Samsung could ship.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3566160" cy="329184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FFB02E"/>
                </a:solidFill>
              </a:defRPr>
            </a:pPr>
            <a:r>
              <a:t>Fallback under Bixby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23160"/>
            <a:ext cx="32004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F0F2F8"/>
                </a:solidFill>
              </a:defRPr>
            </a:pPr>
            <a:r>
              <a:t>Bixby stays first choice where a developer built support. Teach mode covers everything else.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737360"/>
            <a:ext cx="3566160" cy="329184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187451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FFB02E"/>
                </a:solidFill>
              </a:defRPr>
            </a:pPr>
            <a:r>
              <a:t>On-device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423160"/>
            <a:ext cx="32004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F0F2F8"/>
                </a:solidFill>
              </a:defRPr>
            </a:pPr>
            <a:r>
              <a:t>Move STT and the small models on-device. Flows stay private on the phone.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737360"/>
            <a:ext cx="3566160" cy="329184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87451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FFB02E"/>
                </a:solidFill>
              </a:defRPr>
            </a:pPr>
            <a:r>
              <a:t>System-level trust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423160"/>
            <a:ext cx="32004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F0F2F8"/>
                </a:solidFill>
              </a:defRPr>
            </a:pPr>
            <a:r>
              <a:t>As a privileged service: signed confirmations, per-app policy, shareable flows.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